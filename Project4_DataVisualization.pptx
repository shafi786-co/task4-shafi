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EAE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8EAE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8EAE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8EAED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8EAED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Chair</c:v>
                  </c:pt>
                  <c:pt idx="1">
                    <c:v>Printer</c:v>
                  </c:pt>
                  <c:pt idx="2">
                    <c:v>Laptop</c:v>
                  </c:pt>
                  <c:pt idx="3">
                    <c:v>Tablet</c:v>
                  </c:pt>
                  <c:pt idx="4">
                    <c:v>Monitor</c:v>
                  </c:pt>
                  <c:pt idx="5">
                    <c:v>Desk</c:v>
                  </c:pt>
                  <c:pt idx="6">
                    <c:v>Phone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195620</c:v>
                </c:pt>
                <c:pt idx="1">
                  <c:v>195613</c:v>
                </c:pt>
                <c:pt idx="2">
                  <c:v>192127</c:v>
                </c:pt>
                <c:pt idx="3">
                  <c:v>186569</c:v>
                </c:pt>
                <c:pt idx="4">
                  <c:v>175651</c:v>
                </c:pt>
                <c:pt idx="5">
                  <c:v>167460</c:v>
                </c:pt>
                <c:pt idx="6">
                  <c:v>151722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Revenue</c:v>
                </c:pt>
              </c:strCache>
            </c:strRef>
          </c:tx>
          <c:spPr>
            <a:solidFill>
              <a:srgbClr val="1E2761"/>
            </a:solidFill>
            <a:ln w="34925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Sheet1!$A$2:$A$31</c:f>
              <c:multiLvlStrCache>
                <c:ptCount val="30"/>
                <c:lvl>
                  <c:pt idx="0">
                    <c:v>Jan-23</c:v>
                  </c:pt>
                  <c:pt idx="1">
                    <c:v>Feb-23</c:v>
                  </c:pt>
                  <c:pt idx="2">
                    <c:v>Mar-23</c:v>
                  </c:pt>
                  <c:pt idx="3">
                    <c:v>Apr-23</c:v>
                  </c:pt>
                  <c:pt idx="4">
                    <c:v>May-23</c:v>
                  </c:pt>
                  <c:pt idx="5">
                    <c:v>Jun-23</c:v>
                  </c:pt>
                  <c:pt idx="6">
                    <c:v>Jul-23</c:v>
                  </c:pt>
                  <c:pt idx="7">
                    <c:v>Aug-23</c:v>
                  </c:pt>
                  <c:pt idx="8">
                    <c:v>Sep-23</c:v>
                  </c:pt>
                  <c:pt idx="9">
                    <c:v>Oct-23</c:v>
                  </c:pt>
                  <c:pt idx="10">
                    <c:v>Nov-23</c:v>
                  </c:pt>
                  <c:pt idx="11">
                    <c:v>Dec-23</c:v>
                  </c:pt>
                  <c:pt idx="12">
                    <c:v>Jan-24</c:v>
                  </c:pt>
                  <c:pt idx="13">
                    <c:v>Feb-24</c:v>
                  </c:pt>
                  <c:pt idx="14">
                    <c:v>Mar-24</c:v>
                  </c:pt>
                  <c:pt idx="15">
                    <c:v>Apr-24</c:v>
                  </c:pt>
                  <c:pt idx="16">
                    <c:v>May-24</c:v>
                  </c:pt>
                  <c:pt idx="17">
                    <c:v>Jun-24</c:v>
                  </c:pt>
                  <c:pt idx="18">
                    <c:v>Jul-24</c:v>
                  </c:pt>
                  <c:pt idx="19">
                    <c:v>Aug-24</c:v>
                  </c:pt>
                  <c:pt idx="20">
                    <c:v>Sep-24</c:v>
                  </c:pt>
                  <c:pt idx="21">
                    <c:v>Oct-24</c:v>
                  </c:pt>
                  <c:pt idx="22">
                    <c:v>Nov-24</c:v>
                  </c:pt>
                  <c:pt idx="23">
                    <c:v>Dec-24</c:v>
                  </c:pt>
                  <c:pt idx="24">
                    <c:v>Jan-25</c:v>
                  </c:pt>
                  <c:pt idx="25">
                    <c:v>Feb-25</c:v>
                  </c:pt>
                  <c:pt idx="26">
                    <c:v>Mar-25</c:v>
                  </c:pt>
                  <c:pt idx="27">
                    <c:v>Apr-25</c:v>
                  </c:pt>
                  <c:pt idx="28">
                    <c:v>May-25</c:v>
                  </c:pt>
                  <c:pt idx="29">
                    <c:v>Jun-25</c:v>
                  </c:pt>
                </c:lvl>
              </c:multiLvlStrCache>
            </c:multiLvl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56686</c:v>
                </c:pt>
                <c:pt idx="1">
                  <c:v>40118</c:v>
                </c:pt>
                <c:pt idx="2">
                  <c:v>48609</c:v>
                </c:pt>
                <c:pt idx="3">
                  <c:v>27752</c:v>
                </c:pt>
                <c:pt idx="4">
                  <c:v>63837</c:v>
                </c:pt>
                <c:pt idx="5">
                  <c:v>49500</c:v>
                </c:pt>
                <c:pt idx="6">
                  <c:v>43825</c:v>
                </c:pt>
                <c:pt idx="7">
                  <c:v>44493</c:v>
                </c:pt>
                <c:pt idx="8">
                  <c:v>40484</c:v>
                </c:pt>
                <c:pt idx="9">
                  <c:v>36995</c:v>
                </c:pt>
                <c:pt idx="10">
                  <c:v>44192</c:v>
                </c:pt>
                <c:pt idx="11">
                  <c:v>38781</c:v>
                </c:pt>
                <c:pt idx="12">
                  <c:v>41652</c:v>
                </c:pt>
                <c:pt idx="13">
                  <c:v>45215</c:v>
                </c:pt>
                <c:pt idx="14">
                  <c:v>38246</c:v>
                </c:pt>
                <c:pt idx="15">
                  <c:v>49658</c:v>
                </c:pt>
                <c:pt idx="16">
                  <c:v>44417</c:v>
                </c:pt>
                <c:pt idx="17">
                  <c:v>68069</c:v>
                </c:pt>
                <c:pt idx="18">
                  <c:v>39754</c:v>
                </c:pt>
                <c:pt idx="19">
                  <c:v>42156</c:v>
                </c:pt>
                <c:pt idx="20">
                  <c:v>46187</c:v>
                </c:pt>
                <c:pt idx="21">
                  <c:v>35892</c:v>
                </c:pt>
                <c:pt idx="22">
                  <c:v>41023</c:v>
                </c:pt>
                <c:pt idx="23">
                  <c:v>37654</c:v>
                </c:pt>
                <c:pt idx="24">
                  <c:v>29099</c:v>
                </c:pt>
                <c:pt idx="25">
                  <c:v>35318</c:v>
                </c:pt>
                <c:pt idx="26">
                  <c:v>39201</c:v>
                </c:pt>
                <c:pt idx="27">
                  <c:v>31821</c:v>
                </c:pt>
                <c:pt idx="28">
                  <c:v>43397</c:v>
                </c:pt>
                <c:pt idx="29">
                  <c:v>53047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5400000"/>
          <a:lstStyle/>
          <a:p>
            <a:pPr>
              <a:defRPr sz="8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8EAED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EAE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8EAE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8EAED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Cancelled</c:v>
                  </c:pt>
                  <c:pt idx="1">
                    <c:v>Returned</c:v>
                  </c:pt>
                  <c:pt idx="2">
                    <c:v>Pending</c:v>
                  </c:pt>
                  <c:pt idx="3">
                    <c:v>Shipped</c:v>
                  </c:pt>
                  <c:pt idx="4">
                    <c:v>Delivered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250</c:v>
                </c:pt>
                <c:pt idx="1">
                  <c:v>247</c:v>
                </c:pt>
                <c:pt idx="2">
                  <c:v>237</c:v>
                </c:pt>
                <c:pt idx="3">
                  <c:v>235</c:v>
                </c:pt>
                <c:pt idx="4">
                  <c:v>231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2926080"/>
            <a:ext cx="5943600" cy="59436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97680"/>
            <a:ext cx="3200400" cy="3200400"/>
          </a:xfrm>
          <a:prstGeom prst="ellipse">
            <a:avLst/>
          </a:prstGeom>
          <a:solidFill>
            <a:srgbClr val="D8A33D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317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PERFORMANCE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Data Storytelling Review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36118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30 months of e-commerce order data into three decisions worth making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5989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4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20" y="6263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DecodeLabs Data Analytics Internship  |  Batch 2026  |  Prepared by Shafi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Months of Orders, One Clear Set of Decisions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38728" cy="4572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29900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1,200 orders, 30 months, steady operations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3429000"/>
            <a:ext cx="299008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has processed a consistent flow of orders across seven product categories since January 2023, with no single category dominating the catalog.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43984" y="1600200"/>
            <a:ext cx="3538728" cy="45720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18304" y="1874520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18304" y="2194560"/>
            <a:ext cx="29900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has stalled and fulfillment is leaking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718304" y="3429000"/>
            <a:ext cx="299008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has been flat rather than trending up, and 41% of all orders are stuck in Cancelled or Pending status — nearly matching completed orders.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47888" y="1600200"/>
            <a:ext cx="3538728" cy="4572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3" name="Text 11"/>
          <p:cNvSpPr/>
          <p:nvPr/>
        </p:nvSpPr>
        <p:spPr>
          <a:xfrm>
            <a:off x="8522208" y="1874520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22208" y="2194560"/>
            <a:ext cx="29900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the funnel before chasing new growth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522208" y="3429000"/>
            <a:ext cx="299008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the fulfillment backlog first. It is the single largest, most actionable lever in this dataset — larger than any product or channel optimization.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 AT A GLANCE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Figures That Frame Every Decision Ahead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$1.26M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640080" y="3429000"/>
            <a:ext cx="411480" cy="41148"/>
          </a:xfrm>
          <a:prstGeom prst="rect">
            <a:avLst/>
          </a:prstGeom>
          <a:solidFill>
            <a:srgbClr val="D8A33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6118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30 months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11880" y="23774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1,200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3611880" y="3429000"/>
            <a:ext cx="411480" cy="41148"/>
          </a:xfrm>
          <a:prstGeom prst="rect">
            <a:avLst/>
          </a:prstGeom>
          <a:solidFill>
            <a:srgbClr val="D8A33D"/>
          </a:solidFill>
          <a:ln/>
        </p:spPr>
      </p:sp>
      <p:sp>
        <p:nvSpPr>
          <p:cNvPr id="9" name="Text 7"/>
          <p:cNvSpPr/>
          <p:nvPr/>
        </p:nvSpPr>
        <p:spPr>
          <a:xfrm>
            <a:off x="3611880" y="36118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placed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2023 - Jun 2025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0" y="23774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$1,050</a:t>
            </a:r>
            <a:endParaRPr lang="en-US" sz="4600" dirty="0"/>
          </a:p>
        </p:txBody>
      </p:sp>
      <p:sp>
        <p:nvSpPr>
          <p:cNvPr id="11" name="Shape 9"/>
          <p:cNvSpPr/>
          <p:nvPr/>
        </p:nvSpPr>
        <p:spPr>
          <a:xfrm>
            <a:off x="6583680" y="3429000"/>
            <a:ext cx="411480" cy="41148"/>
          </a:xfrm>
          <a:prstGeom prst="rect">
            <a:avLst/>
          </a:prstGeom>
          <a:solidFill>
            <a:srgbClr val="D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36118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value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555480" y="23774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D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41%</a:t>
            </a:r>
            <a:endParaRPr lang="en-US" sz="4600" dirty="0"/>
          </a:p>
        </p:txBody>
      </p:sp>
      <p:sp>
        <p:nvSpPr>
          <p:cNvPr id="14" name="Shape 12"/>
          <p:cNvSpPr/>
          <p:nvPr/>
        </p:nvSpPr>
        <p:spPr>
          <a:xfrm>
            <a:off x="9555480" y="3429000"/>
            <a:ext cx="411480" cy="41148"/>
          </a:xfrm>
          <a:prstGeom prst="rect">
            <a:avLst/>
          </a:prstGeom>
          <a:solidFill>
            <a:srgbClr val="D8A33D"/>
          </a:solidFill>
          <a:ln/>
        </p:spPr>
      </p:sp>
      <p:sp>
        <p:nvSpPr>
          <p:cNvPr id="15" name="Text 13"/>
          <p:cNvSpPr/>
          <p:nvPr/>
        </p:nvSpPr>
        <p:spPr>
          <a:xfrm>
            <a:off x="9555480" y="36118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Cancelled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Pending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breakdown on the following slides — starting with what's driving the top line.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CATEGORY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Chairs and Printers Lead, But No Category Carries the Business Alone</a:t>
            </a:r>
            <a:endParaRPr lang="en-US" sz="2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508760"/>
          <a:ext cx="1088136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6172200"/>
            <a:ext cx="320040" cy="41148"/>
          </a:xfrm>
          <a:prstGeom prst="rect">
            <a:avLst/>
          </a:prstGeom>
          <a:solidFill>
            <a:srgbClr val="D8A33D"/>
          </a:solidFill>
          <a:ln/>
        </p:spPr>
      </p:sp>
      <p:sp>
        <p:nvSpPr>
          <p:cNvPr id="6" name="Text 3"/>
          <p:cNvSpPr/>
          <p:nvPr/>
        </p:nvSpPr>
        <p:spPr>
          <a:xfrm>
            <a:off x="1097280" y="605332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across all 7 categories stays within ~22% of the top performer — the catalog isn't overexposed to one product.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OVER TIME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Held Flat Across 30 Months — There Is No Growth Trend to Report</a:t>
            </a:r>
            <a:endParaRPr lang="en-US" sz="2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463040"/>
          <a:ext cx="1088136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9006840" y="1600200"/>
            <a:ext cx="1828800" cy="5669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9098280" y="164592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’24: $68.1K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40080" y="5760720"/>
            <a:ext cx="320040" cy="41148"/>
          </a:xfrm>
          <a:prstGeom prst="rect">
            <a:avLst/>
          </a:prstGeom>
          <a:solidFill>
            <a:srgbClr val="D8A33D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564184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$42.2K/month, swinging ±25% month to month with no seasonal pattern. Low: April 2023 ($27.8K).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FULFILLMENT HEALTH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Cancelled and Pending Orders Consume 41% of Volume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554480"/>
          <a:ext cx="694944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909560" y="1737360"/>
            <a:ext cx="3657600" cy="3977640"/>
          </a:xfrm>
          <a:prstGeom prst="rect">
            <a:avLst/>
          </a:prstGeom>
          <a:solidFill>
            <a:srgbClr val="FDF2F1"/>
          </a:solidFill>
          <a:ln/>
        </p:spPr>
      </p:sp>
      <p:sp>
        <p:nvSpPr>
          <p:cNvPr id="6" name="Text 3"/>
          <p:cNvSpPr/>
          <p:nvPr/>
        </p:nvSpPr>
        <p:spPr>
          <a:xfrm>
            <a:off x="8183880" y="196596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487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183880" y="2788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Cancelled or Pending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183880" y="32461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nearly as many as Delivered and Shipped combined (466 orders) — a near-even split between orders that finish and orders that stall.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183880" y="4892040"/>
            <a:ext cx="2834640" cy="1828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7"/>
          <p:cNvSpPr/>
          <p:nvPr/>
        </p:nvSpPr>
        <p:spPr>
          <a:xfrm>
            <a:off x="8183880" y="5029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owner: Operations / Fulfillment team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Actions for Next Quarter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777240" cy="777240"/>
          </a:xfrm>
          <a:prstGeom prst="ellipse">
            <a:avLst/>
          </a:prstGeom>
          <a:solidFill>
            <a:srgbClr val="D8A3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91640" y="17830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the fulfillment backlog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91640" y="21945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 and Pending orders are 41% of volume — pair with the ops team to find where orders are stalling before spending on new acquisition.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200400"/>
            <a:ext cx="777240" cy="777240"/>
          </a:xfrm>
          <a:prstGeom prst="ellipse">
            <a:avLst/>
          </a:prstGeom>
          <a:solidFill>
            <a:srgbClr val="D8A33D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200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91640" y="320040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chase a growth narrative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691640" y="361188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flat, not trending up or down. Forecasts and targets should use a flat baseline with seasonality checks, not a growth assumption.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617720"/>
            <a:ext cx="777240" cy="777240"/>
          </a:xfrm>
          <a:prstGeom prst="ellipse">
            <a:avLst/>
          </a:prstGeom>
          <a:solidFill>
            <a:srgbClr val="D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617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91640" y="46177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catalog balance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691640" y="502920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product category is over-relied on. Keep marketing spend spread across categories rather than concentrating on one "hero" product.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WAS BUILT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Chart Follows the Same Three Disciplines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3538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Architect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971800"/>
            <a:ext cx="353872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type matched strictly to the business question — bar for comparison, line for trend. Every bar axis starts at zero.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43984" y="16916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4443984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443984" y="2514600"/>
            <a:ext cx="3538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Editor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43984" y="2971800"/>
            <a:ext cx="353872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Maximized data-ink: no gridlines, no 3D, no legends. Values are labeled directly on the chart, not decoded from a key.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47888" y="16916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8247888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247888" y="2514600"/>
            <a:ext cx="3538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Storyteller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47888" y="2971800"/>
            <a:ext cx="353872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slide has an action title that states the conclusion, and one message only — structured with a Situation-Complication-Resolution arc.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5212080"/>
            <a:ext cx="10881360" cy="100584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54406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</a:t>
            </a:r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Share_Dataset_for_Data_Analytics.xlsx (1,200 orders, Jan 2023-Jun 2025), cleaned and explored in Projects 1-3.   </a:t>
            </a:r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</a:t>
            </a:r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(pandas) for the underlying numbers, native PowerPoint charts for every visual.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77240" y="3611880"/>
            <a:ext cx="548640" cy="41148"/>
          </a:xfrm>
          <a:prstGeom prst="rect">
            <a:avLst/>
          </a:prstGeom>
          <a:solidFill>
            <a:srgbClr val="D8A33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840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4 — Data Visualization  |  DecodeLabs Data Analytics Internship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42976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Shafi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2026-07-13T04:59:50Z</dcterms:created>
  <dcterms:modified xsi:type="dcterms:W3CDTF">2026-07-13T04:59:50Z</dcterms:modified>
</cp:coreProperties>
</file>